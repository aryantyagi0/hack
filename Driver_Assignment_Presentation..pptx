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2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0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1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42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5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2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81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1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08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3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4110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65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6913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01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59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5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Project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282" y="1570654"/>
            <a:ext cx="6626944" cy="4879307"/>
          </a:xfrm>
        </p:spPr>
        <p:txBody>
          <a:bodyPr>
            <a:normAutofit fontScale="85000" lnSpcReduction="20000"/>
          </a:bodyPr>
          <a:lstStyle/>
          <a:p>
            <a:r>
              <a:rPr lang="en-US" sz="1600" b="1" dirty="0"/>
              <a:t>Driver Booking Acceptance Prediction — Machine Learning Pipeline</a:t>
            </a:r>
            <a:endParaRPr lang="en-US" sz="1600" dirty="0"/>
          </a:p>
          <a:p>
            <a:r>
              <a:rPr lang="en-US" sz="1900" b="1" dirty="0"/>
              <a:t>Project Overview</a:t>
            </a:r>
            <a:r>
              <a:rPr lang="en-US" sz="1600" b="1" dirty="0" smtClean="0"/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This project focuses on predicting whether a driver will </a:t>
            </a:r>
            <a:r>
              <a:rPr lang="en-US" sz="1600" b="1" dirty="0"/>
              <a:t>accept</a:t>
            </a:r>
            <a:r>
              <a:rPr lang="en-US" sz="1600" dirty="0"/>
              <a:t> a booking request based on booking details, location information, and historical driver </a:t>
            </a:r>
            <a:r>
              <a:rPr lang="en-US" sz="1600" dirty="0" err="1"/>
              <a:t>behaviour</a:t>
            </a:r>
            <a:r>
              <a:rPr lang="en-US" sz="1600" dirty="0"/>
              <a:t>.</a:t>
            </a:r>
          </a:p>
          <a:p>
            <a:r>
              <a:rPr lang="en-US" sz="1600" b="1" dirty="0"/>
              <a:t>Dataset:</a:t>
            </a:r>
            <a:endParaRPr lang="en-US" sz="1600" dirty="0"/>
          </a:p>
          <a:p>
            <a:r>
              <a:rPr lang="en-US" sz="1600" dirty="0"/>
              <a:t>Booking logs: ~699K rows</a:t>
            </a:r>
          </a:p>
          <a:p>
            <a:r>
              <a:rPr lang="en-US" sz="1600" dirty="0"/>
              <a:t>Participant logs: ~400K rows</a:t>
            </a:r>
          </a:p>
          <a:p>
            <a:r>
              <a:rPr lang="en-US" sz="1600" dirty="0"/>
              <a:t>Source: Provided </a:t>
            </a:r>
            <a:r>
              <a:rPr lang="en-US" sz="1600" dirty="0" err="1"/>
              <a:t>GoJek</a:t>
            </a:r>
            <a:r>
              <a:rPr lang="en-US" sz="1600" dirty="0"/>
              <a:t>-style dispatch dataset</a:t>
            </a:r>
          </a:p>
          <a:p>
            <a:r>
              <a:rPr lang="en-US" sz="1600" dirty="0"/>
              <a:t>Contains event timestamps, booking status, driver location, customer location, and GPS accuracy.</a:t>
            </a:r>
          </a:p>
          <a:p>
            <a:r>
              <a:rPr lang="en-US" sz="1600" b="1" dirty="0"/>
              <a:t>Objective</a:t>
            </a:r>
            <a:r>
              <a:rPr lang="en-US" sz="1600" b="1" dirty="0" smtClean="0"/>
              <a:t>:</a:t>
            </a:r>
          </a:p>
          <a:p>
            <a:pPr marL="0" indent="0">
              <a:buNone/>
            </a:pP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To </a:t>
            </a:r>
            <a:r>
              <a:rPr lang="en-US" sz="1600" dirty="0"/>
              <a:t>build a complete ML pipeline that can:</a:t>
            </a:r>
          </a:p>
          <a:p>
            <a:r>
              <a:rPr lang="en-US" sz="1600" dirty="0"/>
              <a:t>Process raw dispatch data</a:t>
            </a:r>
          </a:p>
          <a:p>
            <a:r>
              <a:rPr lang="en-US" sz="1600" dirty="0"/>
              <a:t>Engineer meaningful </a:t>
            </a:r>
            <a:r>
              <a:rPr lang="en-US" sz="1600" dirty="0" err="1"/>
              <a:t>behavioural</a:t>
            </a:r>
            <a:r>
              <a:rPr lang="en-US" sz="1600" dirty="0"/>
              <a:t> features</a:t>
            </a:r>
          </a:p>
          <a:p>
            <a:r>
              <a:rPr lang="en-US" sz="1600" dirty="0"/>
              <a:t>Train a predictive model</a:t>
            </a:r>
          </a:p>
          <a:p>
            <a:r>
              <a:rPr lang="en-US" sz="1600" dirty="0"/>
              <a:t>Achieve better accuracy &amp; ROC-AUC for booking acceptance prediction</a:t>
            </a:r>
          </a:p>
          <a:p>
            <a:pPr marL="0" indent="0">
              <a:buNone/>
            </a:pP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Understanding &amp; Cleaning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611" y="1403506"/>
            <a:ext cx="8239433" cy="545449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Data Exploration:</a:t>
            </a:r>
            <a:endParaRPr lang="en-US" dirty="0"/>
          </a:p>
          <a:p>
            <a:r>
              <a:rPr lang="en-US" dirty="0"/>
              <a:t>Booking dataset contained multiple duplicates per order</a:t>
            </a:r>
          </a:p>
          <a:p>
            <a:r>
              <a:rPr lang="en-US" dirty="0"/>
              <a:t>Participant dataset contained event-wise logs for each driver</a:t>
            </a:r>
          </a:p>
          <a:p>
            <a:r>
              <a:rPr lang="en-US" dirty="0"/>
              <a:t>Missing values found in GPS coordinates for some rows</a:t>
            </a:r>
          </a:p>
          <a:p>
            <a:r>
              <a:rPr lang="en-US" dirty="0"/>
              <a:t>Data highly imbalanced (more rejections than acceptances)</a:t>
            </a:r>
          </a:p>
          <a:p>
            <a:pPr marL="0" indent="0">
              <a:buNone/>
            </a:pPr>
            <a:r>
              <a:rPr lang="en-US" dirty="0"/>
              <a:t>Cleaning Steps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Removed duplicates using: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order_id</a:t>
            </a:r>
            <a:r>
              <a:rPr lang="en-US" dirty="0"/>
              <a:t>, </a:t>
            </a:r>
            <a:r>
              <a:rPr lang="en-US" dirty="0" err="1"/>
              <a:t>trip_distance</a:t>
            </a:r>
            <a:r>
              <a:rPr lang="en-US" dirty="0"/>
              <a:t>, </a:t>
            </a:r>
            <a:r>
              <a:rPr lang="en-US" dirty="0" err="1"/>
              <a:t>pickup_latitude</a:t>
            </a:r>
            <a:r>
              <a:rPr lang="en-US" dirty="0"/>
              <a:t>, </a:t>
            </a:r>
            <a:r>
              <a:rPr lang="en-US" dirty="0" err="1" smtClean="0"/>
              <a:t>pickup_longitude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Merged booking &amp; participant logs on </a:t>
            </a:r>
            <a:r>
              <a:rPr lang="en-US" dirty="0" err="1" smtClean="0"/>
              <a:t>order_id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Created binary target label: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is_completed</a:t>
            </a:r>
            <a:r>
              <a:rPr lang="en-US" dirty="0"/>
              <a:t> = 1 if driver accepted, else </a:t>
            </a:r>
            <a:r>
              <a:rPr lang="en-US" dirty="0" smtClean="0"/>
              <a:t>0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Sorted data chronologically using </a:t>
            </a:r>
            <a:r>
              <a:rPr lang="en-US" dirty="0" err="1" smtClean="0"/>
              <a:t>event_timestamp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Key Observation</a:t>
            </a:r>
            <a:r>
              <a:rPr lang="en-US" dirty="0" smtClean="0"/>
              <a:t>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Driver behavior patterns strongly influence </a:t>
            </a:r>
            <a:r>
              <a:rPr lang="en-US" dirty="0" smtClean="0"/>
              <a:t>acceptance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Raw distances, timestamps alone were not enough → required feature engineering</a:t>
            </a:r>
            <a:endParaRPr lang="en-US" dirty="0"/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0" y="-230833"/>
            <a:ext cx="2648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107" y="-50800"/>
            <a:ext cx="6347713" cy="1320800"/>
          </a:xfrm>
        </p:spPr>
        <p:txBody>
          <a:bodyPr>
            <a:normAutofit/>
          </a:bodyPr>
          <a:lstStyle/>
          <a:p>
            <a:r>
              <a:rPr lang="en-US" sz="2800" dirty="0"/>
              <a:t>Approach / Methodology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78" y="373626"/>
            <a:ext cx="8829370" cy="6484374"/>
          </a:xfrm>
        </p:spPr>
        <p:txBody>
          <a:bodyPr>
            <a:noAutofit/>
          </a:bodyPr>
          <a:lstStyle/>
          <a:p>
            <a:r>
              <a:rPr lang="en-US" b="1" dirty="0"/>
              <a:t>Workflow</a:t>
            </a:r>
          </a:p>
          <a:p>
            <a:r>
              <a:rPr lang="en-US" dirty="0"/>
              <a:t>Data Loading → Preprocessing → Feature Engineering → Model Training → Evaluation → Prediction</a:t>
            </a:r>
          </a:p>
          <a:p>
            <a:r>
              <a:rPr lang="en-US" b="1" dirty="0"/>
              <a:t>Feature Engineering:</a:t>
            </a:r>
            <a:endParaRPr lang="en-US" dirty="0"/>
          </a:p>
          <a:p>
            <a:r>
              <a:rPr lang="en-US" b="1" dirty="0"/>
              <a:t>Driver distance to pickup: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Haversine</a:t>
            </a:r>
            <a:r>
              <a:rPr lang="en-US" dirty="0"/>
              <a:t> distance → Realistic movement-based signal</a:t>
            </a:r>
          </a:p>
          <a:p>
            <a:r>
              <a:rPr lang="en-US" b="1" dirty="0"/>
              <a:t>Hour of day: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Extracted from timestamp → captures demand patterns</a:t>
            </a:r>
          </a:p>
          <a:p>
            <a:r>
              <a:rPr lang="en-US" b="1" dirty="0"/>
              <a:t>Historical completed bookings: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Measures reliability of driver</a:t>
            </a:r>
          </a:p>
          <a:p>
            <a:r>
              <a:rPr lang="en-US" b="1" dirty="0"/>
              <a:t>Driver accept rate: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Ratio of historical acceptances → strongest </a:t>
            </a:r>
            <a:r>
              <a:rPr lang="en-US" dirty="0" err="1"/>
              <a:t>behavioural</a:t>
            </a:r>
            <a:r>
              <a:rPr lang="en-US" dirty="0"/>
              <a:t> feature</a:t>
            </a:r>
          </a:p>
          <a:p>
            <a:r>
              <a:rPr lang="en-US" b="1" dirty="0"/>
              <a:t>Model Selection:</a:t>
            </a:r>
            <a:endParaRPr lang="en-US" dirty="0"/>
          </a:p>
          <a:p>
            <a:r>
              <a:rPr lang="en-US" dirty="0"/>
              <a:t>Started with </a:t>
            </a:r>
            <a:r>
              <a:rPr lang="en-US" dirty="0" err="1" smtClean="0"/>
              <a:t>RandomForest</a:t>
            </a:r>
            <a:endParaRPr lang="en-US" dirty="0" smtClean="0"/>
          </a:p>
          <a:p>
            <a:r>
              <a:rPr lang="en-US" dirty="0"/>
              <a:t>Switched to </a:t>
            </a:r>
            <a:r>
              <a:rPr lang="en-US" b="1" dirty="0" err="1"/>
              <a:t>XGBoost</a:t>
            </a:r>
            <a:r>
              <a:rPr lang="en-US" dirty="0"/>
              <a:t> for better </a:t>
            </a:r>
            <a:r>
              <a:rPr lang="en-US" dirty="0" smtClean="0"/>
              <a:t>performance</a:t>
            </a:r>
          </a:p>
          <a:p>
            <a:r>
              <a:rPr lang="en-US" dirty="0" err="1"/>
              <a:t>XGBoost</a:t>
            </a:r>
            <a:r>
              <a:rPr lang="en-US" dirty="0"/>
              <a:t> handles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  <a:endParaRPr lang="en-US" sz="1100" dirty="0"/>
          </a:p>
          <a:p>
            <a:pPr marL="0" indent="0">
              <a:buNone/>
            </a:pPr>
            <a:endParaRPr sz="11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107" y="-50800"/>
            <a:ext cx="6347713" cy="1320800"/>
          </a:xfrm>
        </p:spPr>
        <p:txBody>
          <a:bodyPr>
            <a:normAutofit/>
          </a:bodyPr>
          <a:lstStyle/>
          <a:p>
            <a:r>
              <a:rPr lang="en-US" sz="2800" dirty="0"/>
              <a:t>Approach / Methodology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78" y="373626"/>
            <a:ext cx="8829370" cy="6484374"/>
          </a:xfrm>
        </p:spPr>
        <p:txBody>
          <a:bodyPr>
            <a:noAutofit/>
          </a:bodyPr>
          <a:lstStyle/>
          <a:p>
            <a:r>
              <a:rPr lang="en-US" dirty="0"/>
              <a:t>class imbalance</a:t>
            </a:r>
            <a:br>
              <a:rPr lang="en-US" dirty="0"/>
            </a:br>
            <a:r>
              <a:rPr lang="en-US" dirty="0"/>
              <a:t>✔ nonlinear relationships</a:t>
            </a:r>
            <a:br>
              <a:rPr lang="en-US" dirty="0"/>
            </a:br>
            <a:r>
              <a:rPr lang="en-US" dirty="0"/>
              <a:t>✔ sparse tabular data</a:t>
            </a:r>
          </a:p>
          <a:p>
            <a:r>
              <a:rPr lang="en-US" b="1" dirty="0"/>
              <a:t>Train–Test Split:</a:t>
            </a:r>
            <a:endParaRPr lang="en-US" dirty="0"/>
          </a:p>
          <a:p>
            <a:r>
              <a:rPr lang="en-US" dirty="0"/>
              <a:t>80% train</a:t>
            </a:r>
          </a:p>
          <a:p>
            <a:r>
              <a:rPr lang="en-US" dirty="0"/>
              <a:t>20% test</a:t>
            </a:r>
          </a:p>
          <a:p>
            <a:r>
              <a:rPr lang="en-US" dirty="0" err="1"/>
              <a:t>config</a:t>
            </a:r>
            <a:r>
              <a:rPr lang="en-US" dirty="0"/>
              <a:t>-driven (</a:t>
            </a:r>
            <a:r>
              <a:rPr lang="en-US" dirty="0" err="1"/>
              <a:t>config.toml</a:t>
            </a:r>
            <a:r>
              <a:rPr lang="en-US" dirty="0"/>
              <a:t>)</a:t>
            </a:r>
          </a:p>
          <a:p>
            <a:r>
              <a:rPr lang="en-US" b="1" dirty="0"/>
              <a:t>Evaluation Metrics: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Accuracy, Precision, Recall, F1-score, ROC-AUC</a:t>
            </a:r>
          </a:p>
          <a:p>
            <a:pPr marL="0" indent="0">
              <a:buNone/>
            </a:pPr>
            <a:endParaRPr sz="1100" dirty="0" smtClean="0"/>
          </a:p>
        </p:txBody>
      </p:sp>
    </p:spTree>
    <p:extLst>
      <p:ext uri="{BB962C8B-B14F-4D97-AF65-F5344CB8AC3E}">
        <p14:creationId xmlns:p14="http://schemas.microsoft.com/office/powerpoint/2010/main" val="406848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&amp; Insights</a:t>
            </a:r>
            <a:br>
              <a:rPr lang="en-US" dirty="0" smtClean="0"/>
            </a:br>
            <a:r>
              <a:rPr lang="en-US" dirty="0" smtClean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948" y="1413338"/>
            <a:ext cx="7836310" cy="55282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Model Used: </a:t>
            </a:r>
            <a:r>
              <a:rPr lang="en-US" dirty="0" err="1"/>
              <a:t>XGBoostClassifier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Key Parameters</a:t>
            </a:r>
            <a:r>
              <a:rPr lang="en-US" dirty="0" smtClean="0"/>
              <a:t>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n_estimators</a:t>
            </a:r>
            <a:r>
              <a:rPr lang="en-US" dirty="0"/>
              <a:t> = </a:t>
            </a:r>
            <a:r>
              <a:rPr lang="en-US" dirty="0" smtClean="0"/>
              <a:t>500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max_depth</a:t>
            </a:r>
            <a:r>
              <a:rPr lang="en-US" dirty="0"/>
              <a:t> = </a:t>
            </a:r>
            <a:r>
              <a:rPr lang="en-US" dirty="0" smtClean="0"/>
              <a:t>6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learning_rate</a:t>
            </a:r>
            <a:r>
              <a:rPr lang="en-US" dirty="0"/>
              <a:t> = </a:t>
            </a:r>
            <a:r>
              <a:rPr lang="en-US" dirty="0" smtClean="0"/>
              <a:t>0.1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scale_pos_weight</a:t>
            </a:r>
            <a:r>
              <a:rPr lang="en-US" dirty="0"/>
              <a:t> = 4 (for imbalance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Final Evaluation Metrics (</a:t>
            </a:r>
            <a:r>
              <a:rPr lang="en-US" dirty="0" err="1"/>
              <a:t>XGBoost</a:t>
            </a:r>
            <a:r>
              <a:rPr lang="en-US" dirty="0" smtClean="0"/>
              <a:t>):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Accuracy   : 0.45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Precision  : 0.45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Recall     : 0.99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F1-score   : 0.62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ROC-AUC    : 0.42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083" y="117987"/>
            <a:ext cx="6347713" cy="1320800"/>
          </a:xfrm>
        </p:spPr>
        <p:txBody>
          <a:bodyPr/>
          <a:lstStyle/>
          <a:p>
            <a:r>
              <a:rPr lang="en-US" dirty="0"/>
              <a:t>Challenges, Learnings &amp; Next Steps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570654"/>
            <a:ext cx="7688828" cy="5287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Challenges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Dataset was heavily imbalanced (few acceptances vs many rejections</a:t>
            </a:r>
            <a:r>
              <a:rPr lang="en-US" dirty="0" smtClean="0"/>
              <a:t>)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Improving recall while maintaining precision was </a:t>
            </a:r>
            <a:r>
              <a:rPr lang="en-US" dirty="0" smtClean="0"/>
              <a:t>challenging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ROC-AUC decreased due to aggressive recall </a:t>
            </a:r>
            <a:r>
              <a:rPr lang="en-US" dirty="0" smtClean="0"/>
              <a:t>optimization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Feature engineering required deep </a:t>
            </a:r>
            <a:r>
              <a:rPr lang="en-US" dirty="0" err="1"/>
              <a:t>behavioural</a:t>
            </a:r>
            <a:r>
              <a:rPr lang="en-US" dirty="0"/>
              <a:t> </a:t>
            </a:r>
            <a:r>
              <a:rPr lang="en-US" dirty="0" smtClean="0"/>
              <a:t>understanding</a:t>
            </a:r>
          </a:p>
          <a:p>
            <a:r>
              <a:rPr lang="en-US" b="1" dirty="0"/>
              <a:t>Learnings</a:t>
            </a:r>
          </a:p>
          <a:p>
            <a:r>
              <a:rPr lang="en-US" dirty="0"/>
              <a:t>For dispatch systems, </a:t>
            </a:r>
            <a:r>
              <a:rPr lang="en-US" b="1" dirty="0"/>
              <a:t>recall is more important than accuracy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Behaviour</a:t>
            </a:r>
            <a:r>
              <a:rPr lang="en-US" dirty="0"/>
              <a:t>-driven features (e.g., accept rate) improve recall </a:t>
            </a:r>
            <a:r>
              <a:rPr lang="en-US" dirty="0" smtClean="0"/>
              <a:t>significantly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XGBoost</a:t>
            </a:r>
            <a:r>
              <a:rPr lang="en-US" dirty="0"/>
              <a:t> handles imbalance well with </a:t>
            </a:r>
            <a:r>
              <a:rPr lang="en-US" dirty="0" err="1" smtClean="0"/>
              <a:t>scale_pos_weight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ML evaluation must consider business goal, not just generic accuracy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959" y="105647"/>
            <a:ext cx="7688828" cy="5287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Next </a:t>
            </a:r>
            <a:r>
              <a:rPr lang="en-US" sz="3200" b="1" dirty="0" smtClean="0"/>
              <a:t>Steps</a:t>
            </a: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Tune probability threshold to improve both recall and </a:t>
            </a:r>
            <a:r>
              <a:rPr lang="en-US" sz="3200" dirty="0" smtClean="0"/>
              <a:t>ROC-AUC</a:t>
            </a: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/>
              <a:t>Add </a:t>
            </a:r>
            <a:r>
              <a:rPr lang="en-US" sz="3200" dirty="0"/>
              <a:t>more driver </a:t>
            </a:r>
            <a:r>
              <a:rPr lang="en-US" sz="3200" dirty="0" err="1"/>
              <a:t>behavioural</a:t>
            </a:r>
            <a:r>
              <a:rPr lang="en-US" sz="3200" dirty="0"/>
              <a:t> </a:t>
            </a:r>
            <a:r>
              <a:rPr lang="en-US" sz="3200" dirty="0" smtClean="0"/>
              <a:t>features</a:t>
            </a: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err="1"/>
              <a:t>Hyperparameter</a:t>
            </a:r>
            <a:r>
              <a:rPr lang="en-US" sz="3200" dirty="0"/>
              <a:t> tuning with </a:t>
            </a:r>
            <a:r>
              <a:rPr lang="en-US" sz="3200" dirty="0" err="1" smtClean="0"/>
              <a:t>Optuna</a:t>
            </a: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Implement probability calibration (Platt scaling or isotonic regression</a:t>
            </a:r>
            <a:r>
              <a:rPr lang="en-US" sz="3200" dirty="0" smtClean="0"/>
              <a:t>)</a:t>
            </a: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Try </a:t>
            </a:r>
            <a:r>
              <a:rPr lang="en-US" sz="3200" dirty="0" err="1"/>
              <a:t>LightGBM</a:t>
            </a:r>
            <a:r>
              <a:rPr lang="en-US" sz="3200" dirty="0"/>
              <a:t> for speed + better AUC</a:t>
            </a:r>
          </a:p>
        </p:txBody>
      </p:sp>
    </p:spTree>
    <p:extLst>
      <p:ext uri="{BB962C8B-B14F-4D97-AF65-F5344CB8AC3E}">
        <p14:creationId xmlns:p14="http://schemas.microsoft.com/office/powerpoint/2010/main" val="273847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</TotalTime>
  <Words>306</Words>
  <Application>Microsoft Office PowerPoint</Application>
  <PresentationFormat>On-screen Show (4:3)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Trebuchet MS</vt:lpstr>
      <vt:lpstr>Wingdings</vt:lpstr>
      <vt:lpstr>Wingdings 3</vt:lpstr>
      <vt:lpstr>Facet</vt:lpstr>
      <vt:lpstr>Project Overview</vt:lpstr>
      <vt:lpstr>Data Understanding &amp; Cleaning</vt:lpstr>
      <vt:lpstr>Approach / Methodology</vt:lpstr>
      <vt:lpstr>Approach / Methodology</vt:lpstr>
      <vt:lpstr>Results &amp; Insights  </vt:lpstr>
      <vt:lpstr>Challenges, Learnings &amp; Next Steps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subject/>
  <dc:creator>asus</dc:creator>
  <cp:keywords/>
  <dc:description>generated using python-pptx</dc:description>
  <cp:lastModifiedBy>asus</cp:lastModifiedBy>
  <cp:revision>13</cp:revision>
  <dcterms:created xsi:type="dcterms:W3CDTF">2013-01-27T09:14:16Z</dcterms:created>
  <dcterms:modified xsi:type="dcterms:W3CDTF">2025-11-18T19:37:21Z</dcterms:modified>
  <cp:category/>
</cp:coreProperties>
</file>